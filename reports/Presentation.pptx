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1F77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65760" y="0"/>
            <a:ext cx="182880" cy="68580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11680"/>
            <a:ext cx="100584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F77B4"/>
                </a:solidFill>
                <a:latin typeface="Arial"/>
              </a:defRPr>
            </a:pPr>
            <a:r>
              <a:t>BLUESTOCK MUTUAL FUND</a:t>
            </a:r>
          </a:p>
          <a:p>
            <a:pPr>
              <a:defRPr sz="3600" b="1">
                <a:solidFill>
                  <a:srgbClr val="2C3E50"/>
                </a:solidFill>
              </a:defRPr>
            </a:pPr>
            <a:r>
              <a:t>PORTFOLIO &amp; RISK ANALYTICS</a:t>
            </a:r>
          </a:p>
          <a:p>
            <a:pPr>
              <a:spcBef>
                <a:spcPts val="2000"/>
              </a:spcBef>
              <a:defRPr sz="1800">
                <a:solidFill>
                  <a:srgbClr val="646E78"/>
                </a:solidFill>
              </a:defRPr>
            </a:pPr>
            <a:r>
              <a:t>End-to-End Data Engineering &amp; Advanced Financial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75488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Prepared by: Antigravity AI Engineer</a:t>
            </a:r>
          </a:p>
          <a:p>
            <a:pPr>
              <a:defRPr sz="1200">
                <a:solidFill>
                  <a:srgbClr val="333333"/>
                </a:solidFill>
              </a:defRPr>
            </a:pPr>
            <a:r>
              <a:t>Platform: Python, SQLite Star Schema, Streamlit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77B4"/>
                </a:solidFill>
                <a:latin typeface="Arial"/>
              </a:defRPr>
            </a:pPr>
            <a:r>
              <a:t>Data Ingestion &amp; Cleaning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Analytics Capstone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Ingestion Overview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Loads 10 raw CSV datasets covering funds, NAV history, inflows, transactions, and holdings.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Live NAV fetching module retrieves and saves HDFC Top 100 scheme NAV data from API (mfapi.in).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Cleans NAV history by sorting and forward-filling weekend and holiday gaps to prevent calendar bias.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Standardizes transaction types (SIP/Lumpsum/Redemption) and cleans KYC enums.</a:t>
            </a:r>
          </a:p>
          <a:p>
            <a:pPr>
              <a:spcBef>
                <a:spcPts val="800"/>
              </a:spcBef>
              <a:defRPr sz="1400">
                <a:solidFill>
                  <a:srgbClr val="333333"/>
                </a:solidFill>
              </a:defRPr>
            </a:pPr>
            <a:r>
              <a:t>• Verifies 100% referential integrity with AMFI scheme code matches across datasets (Passes validation).</a:t>
            </a:r>
          </a:p>
        </p:txBody>
      </p:sp>
      <p:pic>
        <p:nvPicPr>
          <p:cNvPr id="6" name="Picture 5" descr="02_aum_grow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77B4"/>
                </a:solidFill>
                <a:latin typeface="Arial"/>
              </a:defRPr>
            </a:pPr>
            <a:r>
              <a:t>Executive Summary &amp; AUM Concentration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Analytics Capstone | June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02920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AGGREGATE AUM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INR 10.44L Cr</a:t>
            </a:r>
          </a:p>
          <a:p>
            <a:pPr>
              <a:defRPr sz="900">
                <a:solidFill>
                  <a:srgbClr val="78828C"/>
                </a:solidFill>
              </a:defRPr>
            </a:pPr>
            <a:r>
              <a:t>Cumulative asset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560320"/>
            <a:ext cx="502920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ACTIVE FUNDS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40</a:t>
            </a:r>
          </a:p>
          <a:p>
            <a:pPr>
              <a:defRPr sz="900">
                <a:solidFill>
                  <a:srgbClr val="78828C"/>
                </a:solidFill>
              </a:defRPr>
            </a:pPr>
            <a:r>
              <a:t>Monitored mutual funds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749039"/>
            <a:ext cx="502920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TOTAL TRANSACTIONS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32,778</a:t>
            </a:r>
          </a:p>
          <a:p>
            <a:pPr>
              <a:defRPr sz="900">
                <a:solidFill>
                  <a:srgbClr val="78828C"/>
                </a:solidFill>
              </a:defRPr>
            </a:pPr>
            <a:r>
              <a:t>Retail investor trade log count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937760"/>
            <a:ext cx="5029200" cy="1005840"/>
          </a:xfrm>
          <a:prstGeom prst="rect">
            <a:avLst/>
          </a:prstGeom>
          <a:solidFill>
            <a:srgbClr val="F8F9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91440"/>
          <a:lstStyle/>
          <a:p>
            <a:pPr algn="ctr">
              <a:defRPr sz="1100" b="1">
                <a:solidFill>
                  <a:srgbClr val="1F77B4"/>
                </a:solidFill>
              </a:defRPr>
            </a:pPr>
            <a:r>
              <a:t>TRANSACTION VOLUME</a:t>
            </a:r>
          </a:p>
          <a:p>
            <a:pPr>
              <a:defRPr sz="2200" b="1">
                <a:solidFill>
                  <a:srgbClr val="2C3E50"/>
                </a:solidFill>
              </a:defRPr>
            </a:pPr>
            <a:r>
              <a:t>INR 352.16 Cr</a:t>
            </a:r>
          </a:p>
          <a:p>
            <a:pPr>
              <a:defRPr sz="900">
                <a:solidFill>
                  <a:srgbClr val="78828C"/>
                </a:solidFill>
              </a:defRPr>
            </a:pPr>
            <a:r>
              <a:t>Retail invested capital</a:t>
            </a:r>
          </a:p>
        </p:txBody>
      </p:sp>
      <p:pic>
        <p:nvPicPr>
          <p:cNvPr id="9" name="Picture 8" descr="03_sip_inflow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77B4"/>
                </a:solidFill>
                <a:latin typeface="Arial"/>
              </a:defRPr>
            </a:pPr>
            <a:r>
              <a:t>Investor Demographics &amp; Geographic Split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Analytics Capstone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Key Demographic Insights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Age Group Dominance: Younger cohorts aged 26-35 drive the highest transaction counts (43.8% total volume).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Geographic Concentration: Maharashtra acts as the primary volume driver, contributing to more than 35% of total capital.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Tier Split: T30 cities swallow 69.9% of capital, while B30 cities contribute a solid 30.1%, highlighting strong semi-urban penetration.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Gender Split: Transaction amounts display an active male-skewed distribution, though female-registered folios are rising.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Preferred Channels: UPI and Net Banking dominate transaction payment modes, highlighting digital platform convenience.</a:t>
            </a:r>
          </a:p>
        </p:txBody>
      </p:sp>
      <p:pic>
        <p:nvPicPr>
          <p:cNvPr id="6" name="Picture 5" descr="05_age_group_p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77B4"/>
                </a:solidFill>
                <a:latin typeface="Arial"/>
              </a:defRPr>
            </a:pPr>
            <a:r>
              <a:t>Performance Analytics &amp; Risk Profiling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Analytics Capstone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Mathematical Metrics (252 Trading Days)</a:t>
            </a:r>
          </a:p>
          <a:p>
            <a:pPr>
              <a:spcBef>
                <a:spcPts val="500"/>
              </a:spcBef>
              <a:defRPr sz="1300"/>
            </a:pPr>
            <a:r>
              <a:t>We avoid calendar errors by annualizing returns and risk measures based on actual market trading days (252) rather than 365 days.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CAGR: Annualized compound growth. Used to normalize performance across different lifetimes.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Sharpe Ratio: Excess return per unit of volatility relative to 6% annual Risk-Free Rate.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Beta: Evaluates fund return volatility relative to its benchmark index (e.g. Nifty 50).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Value at Risk (95% Daily VaR): The 5th percentile threshold of returns, mapping maximum expected daily loss.</a:t>
            </a:r>
          </a:p>
        </p:txBody>
      </p:sp>
      <p:pic>
        <p:nvPicPr>
          <p:cNvPr id="6" name="Picture 5" descr="15_expense_vs_return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77B4"/>
                </a:solidFill>
                <a:latin typeface="Arial"/>
              </a:defRPr>
            </a:pPr>
            <a:r>
              <a:t>Advanced Analytics: Monte Carlo NAV Projections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Analytics Capstone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Geometric Brownian Motion Projection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Simulates daily NAV path for SBI Bluechip Fund (119551) over 5 years (1,260 trading days).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Uses historical mean return drift and volatility standard deviation from daily returns.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Expected Mean Path projects compounding trajectory based on log-normal asset growth.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Confidence Bands: Shaded bands outline the 5th and 95th percentile paths, outlining pessimistic and optimistic limits.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Aides investors in risk planning, showing capital probability limits over long horizons.</a:t>
            </a:r>
          </a:p>
        </p:txBody>
      </p:sp>
      <p:pic>
        <p:nvPicPr>
          <p:cNvPr id="6" name="Picture 5" descr="11_nav_correlat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554480"/>
            <a:ext cx="50292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1F77B4"/>
                </a:solidFill>
                <a:latin typeface="Arial"/>
              </a:defRPr>
            </a:pPr>
            <a:r>
              <a:t>Advanced Analytics: Markowitz Portfolio Optimization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400800"/>
            <a:ext cx="11277295" cy="18288"/>
          </a:xfrm>
          <a:prstGeom prst="rect">
            <a:avLst/>
          </a:prstGeom>
          <a:solidFill>
            <a:srgbClr val="2C3E50"/>
          </a:solidFill>
          <a:ln>
            <a:solidFill>
              <a:srgbClr val="2C3E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29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F8C8D"/>
                </a:solidFill>
              </a:defRPr>
            </a:pPr>
            <a:r>
              <a:t>Bluestock Mutual Fund Analytics Capstone | June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C3E50"/>
                </a:solidFill>
              </a:defRPr>
            </a:pPr>
            <a:r>
              <a:t>Modern Portfolio Theory (MPT) Application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Combines 5 key large-cap funds (SBI, ICICI, Nippon, Axis, Kotak) to optimize weights.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Computes historical daily covariance matrix to evaluate diversification benefits.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Simulates 10,000 portfolio combinations to map the Markowitz Efficient Frontier curve.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Maximum Sharpe Ratio Portfolio: Identifies weights that yield the highest risk-adjusted return.</a:t>
            </a:r>
          </a:p>
          <a:p>
            <a:pPr>
              <a:spcBef>
                <a:spcPts val="800"/>
              </a:spcBef>
              <a:defRPr sz="1300">
                <a:solidFill>
                  <a:srgbClr val="333333"/>
                </a:solidFill>
              </a:defRPr>
            </a:pPr>
            <a:r>
              <a:t>• Minimum Volatility Portfolio: Yields weights that minimize portfolio standard deviation.</a:t>
            </a:r>
          </a:p>
        </p:txBody>
      </p:sp>
      <p:pic>
        <p:nvPicPr>
          <p:cNvPr id="6" name="Picture 5" descr="12_sector_don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71600"/>
            <a:ext cx="5486400" cy="4114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