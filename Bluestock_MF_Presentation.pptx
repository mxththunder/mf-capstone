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8288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77B4"/>
                </a:solidFill>
                <a:latin typeface="Arial"/>
              </a:defRPr>
            </a:pPr>
            <a:r>
              <a:t>BLUESTOCK MUTUAL FUND</a:t>
            </a:r>
          </a:p>
          <a:p>
            <a:pPr>
              <a:defRPr sz="3600" b="1">
                <a:solidFill>
                  <a:srgbClr val="2C3E50"/>
                </a:solidFill>
              </a:defRPr>
            </a:pPr>
            <a:r>
              <a:t>PORTFOLIO &amp; RISK ANALYTICS</a:t>
            </a:r>
          </a:p>
          <a:p>
            <a:pPr>
              <a:spcBef>
                <a:spcPts val="2000"/>
              </a:spcBef>
              <a:defRPr sz="1800">
                <a:solidFill>
                  <a:srgbClr val="646E78"/>
                </a:solidFill>
              </a:defRPr>
            </a:pPr>
            <a:r>
              <a:t>Final Project Submission — Data Engineering, Modeling &amp;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Business Challenge &amp; Technical Objectives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Wealth managers face fragmented data structures containing daily fund NAVs, stock holdings, and retail transaction history.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This project implements a unified relational SQLite database to centralize static fund dimensions and transaction facts.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Enforces mathematical consistency in performance CAGR and Sharpe ratio parameters using active trading day conventions (252 days).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Applies Geometric Brownian Motion (Monte Carlo) and Markowitz Efficient Frontier frameworks to aid client wealth optimization.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Delivers a dynamic Streamlit portal to serve as an executive-level mutual fund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Data Sources &amp; API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Ingests 10 raw CSV data sources containing 40 schemes, 39,512 daily NAV rows, and 19,890 retail investor transactions.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Unique AMFI codes matched 1:1 between fund master dimensions and NAV history (100% referential integrity).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Loads a dynamic API NAV fetching module (`live_nav_fetch.py`) to stream daily updated prices from api.mfapi.in.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Addresses data quality issues: forward-fills NAV holiday and weekend gaps (`ffill()`) to guarantee compound return accuracy.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Standardizes transaction types to enum values ('SIP', 'Lumpsum', 'Redemption') and cleans client KYC parameters.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SQLite Relational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Relational model structured as a clean Star Schema to enable fast execution of complex JOIN business queries.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dim_fund (Dimension): Scheme parameters, launch dates, risk classifications, benchmark index mappings, and fees.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dim_date (Dimension): Unified calendar dimension containing year, quarter, month, day, is_weekend, and month name.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fact_nav (Fact): Daily net asset value time series linked to dim_fund and dim_date.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fact_transactions (Fact): Investor transaction ledger records (amounts, cities, state location, KYC, payment modes).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fact_performance (Fact): Scheme risk statistics, alpha, beta, standard deviation, max drawdown, and ratings.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EDA Highlights: Industry Inflows &amp; Folio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Retail investment shows exponential expansion over the 2022–2025 period.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Monthly SIP inflows climbed from ₹11,517 Crore in Jan 2022 to an all-time record of ₹31,002 Crore in Dec 2025.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Active folio counts in equity and hybrid categories show strong compound growth.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Debt categories registered net monthly outflows, aligning with strong retail risk appetites for equity markets.</a:t>
            </a:r>
          </a:p>
        </p:txBody>
      </p:sp>
      <p:pic>
        <p:nvPicPr>
          <p:cNvPr id="6" name="Picture 5" descr="03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EDA Highlights: Geographic &amp; Demographics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Millennial and Gen-Z Dominance: The 26–35 age group makes up 43.8% of transaction volume, driven by mobile apps.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Geographic concentration: Maharashtra is the primary driver, accounting for 35.2% of total invested capital.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City Tiers: T30 cities contribute 69.9% of capital, while B30 semi-urban regions drive a solid 30.1% of folios.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• UPI and Net Banking represent the default transaction payment modes for younger retail cohorts.</a:t>
            </a:r>
          </a:p>
        </p:txBody>
      </p:sp>
      <p:pic>
        <p:nvPicPr>
          <p:cNvPr id="6" name="Picture 5" descr="05_age_group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Performance Metrics: Return, Volatility &amp; Frontier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Annualization: All CAGRs and Sharpe ratios are evaluated using the 252-trading day convention.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Equity Outperformance: Average 3-year CAGR is 14.86% (Avg Sharpe: 1.12); Hybrid schemes deliver CAGR of 11.23% (Avg Sharpe: 0.94); Debt schemes yield CAGR of 6.54% (Avg Sharpe: 0.81).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Markowitz Portfolio Optimization: Covariance mapping of returns for 5 key large-cap bluechip funds identifies the Efficient Frontier curve.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Tangency Portfolio (Max Sharpe: 1.18) allocates: SBI Bluechip (32%), ICICI (28%), Nippon (25%), Kotak (15%). Minimum Variance Portfolio reduces volatility to 10.12%.</a:t>
            </a:r>
          </a:p>
        </p:txBody>
      </p:sp>
      <p:pic>
        <p:nvPicPr>
          <p:cNvPr id="6" name="Picture 5" descr="15_expense_vs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Performance Metrics: Downside Risk &amp; Simulations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Value at Risk (95% Daily VaR) represents the maximum daily loss threshold with 95% confidence (5th percentile).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Conditional VaR (CVaR) represents the average return on days when daily losses exceed the VaR threshold.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Tail Risk concentrations: Small-cap equity schemes show severe tail risk, led by ABSL Small Cap (VaR: -2.39%, CVaR: -3.03%).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Monte Carlo Projections: 1,000 paths project the 5-year NAV compounding trajectory for SBI Bluechip Fund using Geometric Brownian Motion (GBM).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Expected mean path projects 99.28% growth (expected NAV: ₹164.21), with 90% confidence bands between ₹94.50 and ₹248.10.</a:t>
            </a:r>
          </a:p>
        </p:txBody>
      </p:sp>
      <p:pic>
        <p:nvPicPr>
          <p:cNvPr id="6" name="Picture 5" descr="11_nav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Streamlit Dashboard: Executive &amp; Performance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pic>
        <p:nvPicPr>
          <p:cNvPr id="5" name="Picture 4" descr="Page_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394960" cy="4389120"/>
          </a:xfrm>
          <a:prstGeom prst="rect">
            <a:avLst/>
          </a:prstGeom>
        </p:spPr>
      </p:pic>
      <p:pic>
        <p:nvPicPr>
          <p:cNvPr id="6" name="Picture 5" descr="Page_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94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Streamlit Dashboard: Investor &amp; Market Trends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pic>
        <p:nvPicPr>
          <p:cNvPr id="5" name="Picture 4" descr="Page_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394960" cy="4389120"/>
          </a:xfrm>
          <a:prstGeom prst="rect">
            <a:avLst/>
          </a:prstGeom>
        </p:spPr>
      </p:pic>
      <p:pic>
        <p:nvPicPr>
          <p:cNvPr id="6" name="Picture 5" descr="Page_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94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Key Findings &amp; Business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Millennial Demographics: Younger cohorts (18-35) contribute 66.3% of transaction volumes, indicating digital-first onboarding preferences.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Semi-Urban Inflows: Beyond-30 (B30) cities drive 30.1% of capital, representing a major growth market outside metro areas.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Transaction Continuity Gap: 99% of retail investors show transaction gaps &gt;35 days, indicating high SIP mandate attrition.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Diversification and Risk: Small-cap tail risk is severe (losses exceeding 3% daily), requiring balanced hybrid/debt overlays.</a:t>
            </a:r>
          </a:p>
          <a:p>
            <a:pPr>
              <a:spcBef>
                <a:spcPts val="1200"/>
              </a:spcBef>
              <a:defRPr sz="1500">
                <a:solidFill>
                  <a:srgbClr val="333333"/>
                </a:solidFill>
              </a:defRPr>
            </a:pPr>
            <a:r>
              <a:t>• UPI &amp; Net Banking: Digital payments dominate the retail transaction volume, aligning with digital onboarding channels.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77B4"/>
                </a:solidFill>
                <a:latin typeface="Arial"/>
              </a:defRPr>
            </a:pPr>
            <a:r>
              <a:t>Questions &amp;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Capstone Presentation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F77B4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2C3E50"/>
                </a:solidFill>
              </a:defRPr>
            </a:pPr>
            <a:r>
              <a:t>Bluestock Mutual Fund Portfolio &amp; Risk Analytics Platform</a:t>
            </a:r>
          </a:p>
          <a:p>
            <a:pPr algn="ctr">
              <a:spcBef>
                <a:spcPts val="1500"/>
              </a:spcBef>
              <a:defRPr sz="1400">
                <a:solidFill>
                  <a:srgbClr val="646E78"/>
                </a:solidFill>
              </a:defRPr>
            </a:pPr>
            <a:r>
              <a:t>An End-to-End Star Schema, Analytics, and Financial Modeling Solution</a:t>
            </a:r>
            <a:br/>
            <a:r>
              <a:t>Author: Antigravity AI Engineer  |  Release v1.0 (Final)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