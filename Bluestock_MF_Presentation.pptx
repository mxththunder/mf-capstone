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0"/>
            <a:ext cx="182880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100584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F77B4"/>
                </a:solidFill>
                <a:latin typeface="Arial"/>
              </a:defRPr>
            </a:pPr>
            <a:r>
              <a:t>BLUESTOCK MUTUAL FUND</a:t>
            </a:r>
          </a:p>
          <a:p>
            <a:pPr>
              <a:defRPr sz="3600" b="1">
                <a:solidFill>
                  <a:srgbClr val="2C3E50"/>
                </a:solidFill>
              </a:defRPr>
            </a:pPr>
            <a:r>
              <a:t>PORTFOLIO &amp; RISK ANALYTICS</a:t>
            </a:r>
          </a:p>
          <a:p>
            <a:pPr>
              <a:spcBef>
                <a:spcPts val="2000"/>
              </a:spcBef>
              <a:defRPr sz="1800">
                <a:solidFill>
                  <a:srgbClr val="646E78"/>
                </a:solidFill>
              </a:defRPr>
            </a:pPr>
            <a:r>
              <a:t>Final Project Submission — Data Engineering, Modeling &amp; Visualization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77B4"/>
                </a:solidFill>
                <a:latin typeface="Arial"/>
              </a:defRPr>
            </a:pPr>
            <a:r>
              <a:t>Problem Statement &amp;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Capstone Presentation |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C3E50"/>
                </a:solidFill>
              </a:defRPr>
            </a:pPr>
            <a:r>
              <a:t>Business Challenge &amp; Technical Objectives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Wealth managers face fragmented data structures containing daily fund NAVs, stock holdings, and retail transaction history.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This project implements a unified relational SQLite database to centralize static fund dimensions and transaction facts.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Enforces mathematical consistency in performance CAGR and Sharpe ratio parameters using active trading day conventions (252 days).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Applies Geometric Brownian Motion (Monte Carlo) and Markowitz Efficient Frontier frameworks to aid client wealth optimization.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Delivers a dynamic Streamlit portal to serve as an executive-level mutual fund dashboard.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77B4"/>
                </a:solidFill>
                <a:latin typeface="Arial"/>
              </a:defRPr>
            </a:pPr>
            <a:r>
              <a:t>Data Sources &amp; API Ingestion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Capstone Presentation |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Ingests 10 raw CSV data sources containing 40 schemes, 39,512 daily NAV rows, and 19,890 retail investor transactions.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Unique AMFI codes matched 1:1 between fund master dimensions and NAV history (100% referential integrity).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Loads a dynamic API NAV fetching module (`live_nav_fetch.py`) to stream daily updated prices from api.mfapi.in.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Addresses data quality issues: forward-fills NAV holiday and weekend gaps (`ffill()`) to guarantee compound return accuracy.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Standardizes transaction types to enum values ('SIP', 'Lumpsum', 'Redemption') and cleans client KYC parameters.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77B4"/>
                </a:solidFill>
                <a:latin typeface="Arial"/>
              </a:defRPr>
            </a:pPr>
            <a:r>
              <a:t>SQLite Relational Star Schema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Capstone Presentation |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Relational model structured as a clean Star Schema to enable fast execution of complex JOIN business queries.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dim_fund (Dimension): Scheme parameters, launch dates, risk classifications, benchmark index mappings, and fees.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dim_date (Dimension): Unified calendar dimension containing year, quarter, month, day, is_weekend, and month name.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fact_nav (Fact): Daily net asset value time series linked to dim_fund and dim_date.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fact_transactions (Fact): Investor transaction ledger records (amounts, cities, state location, KYC, payment modes).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fact_performance (Fact): Scheme risk statistics, alpha, beta, standard deviation, max drawdown, and ratings.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77B4"/>
                </a:solidFill>
                <a:latin typeface="Arial"/>
              </a:defRPr>
            </a:pPr>
            <a:r>
              <a:t>EDA Highlights: Industry Inflows &amp; Folio Growth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Capstone Presentation |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Retail investment shows exponential expansion over the 2022–2025 period.</a:t>
            </a:r>
          </a:p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Monthly SIP inflows climbed from ₹11,517 Crore in Jan 2022 to an all-time record of ₹31,002 Crore in Dec 2025.</a:t>
            </a:r>
          </a:p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Active folio counts in equity and hybrid categories show strong compound growth.</a:t>
            </a:r>
          </a:p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Debt categories registered net monthly outflows, aligning with strong retail risk appetites for equity markets.</a:t>
            </a:r>
          </a:p>
        </p:txBody>
      </p:sp>
      <p:pic>
        <p:nvPicPr>
          <p:cNvPr id="6" name="Picture 5" descr="03_sip_inflow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77B4"/>
                </a:solidFill>
                <a:latin typeface="Arial"/>
              </a:defRPr>
            </a:pPr>
            <a:r>
              <a:t>EDA Highlights: Geographic &amp; Demographics Split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Capstone Presentation |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Millennial and Gen-Z Dominance: The 26–35 age group makes up 43.8% of transaction volume, driven by mobile apps.</a:t>
            </a:r>
          </a:p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Geographic concentration: Maharashtra is the primary driver, accounting for 35.2% of total invested capital.</a:t>
            </a:r>
          </a:p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City Tiers: T30 cities contribute 69.9% of capital, while B30 semi-urban regions drive a solid 30.1% of folios.</a:t>
            </a:r>
          </a:p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UPI and Net Banking represent the default transaction payment modes for younger retail cohorts.</a:t>
            </a:r>
          </a:p>
        </p:txBody>
      </p:sp>
      <p:pic>
        <p:nvPicPr>
          <p:cNvPr id="6" name="Picture 5" descr="05_age_group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77B4"/>
                </a:solidFill>
                <a:latin typeface="Arial"/>
              </a:defRPr>
            </a:pPr>
            <a:r>
              <a:t>Performance Analytics: Return vs Volatility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Capstone Presentation |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Annualization: All CAGRs and Sharpe ratios are evaluated using the 252-trading day convention.</a:t>
            </a:r>
          </a:p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Equity schemes outperform, registering an average 3-year CAGR of 14.86% and average Sharpe of 1.12.</a:t>
            </a:r>
          </a:p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Hybrid portfolios register balanced return parameters (CAGR: 11.23%, Sharpe: 0.94) with lower daily standard deviations.</a:t>
            </a:r>
          </a:p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Debt-oriented plans offer wealth preservation, registering CAGRs of 6.54% and negligible market Beta (&lt;0.15).</a:t>
            </a:r>
          </a:p>
        </p:txBody>
      </p:sp>
      <p:pic>
        <p:nvPicPr>
          <p:cNvPr id="6" name="Picture 5" descr="15_expense_vs_retur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77B4"/>
                </a:solidFill>
                <a:latin typeface="Arial"/>
              </a:defRPr>
            </a:pPr>
            <a:r>
              <a:t>Advanced Risk Analytics: VaR &amp; CVaR Tail Risks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Capstone Presentation |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Value at Risk (95% Daily VaR) represents the maximum daily loss threshold with 95% confidence (5th percentile).</a:t>
            </a:r>
          </a:p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Conditional VaR (CVaR) represents the average return on days when daily losses exceed the VaR threshold.</a:t>
            </a:r>
          </a:p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Small-cap equity schemes show severe tail risk, led by ABSL Small Cap (VaR: -2.39%, CVaR: -3.03%).</a:t>
            </a:r>
          </a:p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Liquid and short-term debt schemes display negligible tail risk, with ICICI Pru Liquid showing a VaR of -0.019%.</a:t>
            </a:r>
          </a:p>
        </p:txBody>
      </p:sp>
      <p:pic>
        <p:nvPicPr>
          <p:cNvPr id="6" name="Picture 5" descr="11_nav_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77B4"/>
                </a:solidFill>
                <a:latin typeface="Arial"/>
              </a:defRPr>
            </a:pPr>
            <a:r>
              <a:t>Advanced Modeling: GBM &amp; Efficient Frontier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Capstone Presentation |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Monte Carlo: 1,000 paths project the 5-year NAV compounding trajectory for SBI Bluechip Fund using Geometric Brownian Motion.</a:t>
            </a:r>
          </a:p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Expected mean path projects 99.28% growth (NAV: ₹164.21), with 90% confidence bands between ₹94.50 and ₹248.10.</a:t>
            </a:r>
          </a:p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Markowitz Optimization: Covariance mapping of returns for 5 key bluechip funds identifies the Efficient Frontier.</a:t>
            </a:r>
          </a:p>
          <a:p>
            <a:pPr>
              <a:spcBef>
                <a:spcPts val="1000"/>
              </a:spcBef>
              <a:defRPr sz="1400">
                <a:solidFill>
                  <a:srgbClr val="333333"/>
                </a:solidFill>
              </a:defRPr>
            </a:pPr>
            <a:r>
              <a:t>• Tangent Portfolio (Max Sharpe: 1.18) allocates: SBI Bluechip (32%), ICICI (28%), Nippon (25%), Kotak (15%).</a:t>
            </a:r>
          </a:p>
        </p:txBody>
      </p:sp>
      <p:pic>
        <p:nvPicPr>
          <p:cNvPr id="6" name="Picture 5" descr="12_sector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77B4"/>
                </a:solidFill>
                <a:latin typeface="Arial"/>
              </a:defRPr>
            </a:pPr>
            <a:r>
              <a:t>Streamlit Dashboard: Executive &amp;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Capstone Presentation | June 2026</a:t>
            </a:r>
          </a:p>
        </p:txBody>
      </p:sp>
      <p:pic>
        <p:nvPicPr>
          <p:cNvPr id="5" name="Picture 4" descr="Page_1_Industry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394960" cy="4389120"/>
          </a:xfrm>
          <a:prstGeom prst="rect">
            <a:avLst/>
          </a:prstGeom>
        </p:spPr>
      </p:pic>
      <p:pic>
        <p:nvPicPr>
          <p:cNvPr id="6" name="Picture 5" descr="Page_2_Fund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3949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77B4"/>
                </a:solidFill>
                <a:latin typeface="Arial"/>
              </a:defRPr>
            </a:pPr>
            <a:r>
              <a:t>Streamlit Dashboard: Investor &amp; Market Trends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Capstone Presentation | June 2026</a:t>
            </a:r>
          </a:p>
        </p:txBody>
      </p:sp>
      <p:pic>
        <p:nvPicPr>
          <p:cNvPr id="5" name="Picture 4" descr="Page_3_Investor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394960" cy="4389120"/>
          </a:xfrm>
          <a:prstGeom prst="rect">
            <a:avLst/>
          </a:prstGeom>
        </p:spPr>
      </p:pic>
      <p:pic>
        <p:nvPicPr>
          <p:cNvPr id="6" name="Picture 5" descr="Page_4_SIP_Market_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3949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77B4"/>
                </a:solidFill>
                <a:latin typeface="Arial"/>
              </a:defRPr>
            </a:pPr>
            <a:r>
              <a:t>Key Takeaways &amp; Strategic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Capstone Presentation |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Millennial Product Placement: Younger cohorts (18-35) make up 66.3% of users. Target them with mobile micro-SIP products.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Tap Beyond-30 (B30) Markets: B30 semi-urban regions generate 30.1% of capital. Expand digital onboarding in tier-2/3 cities.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Improve SIP Mandate Continuity: With 99% of users showing transaction gaps &gt;35 days, implement push notification reminders, flexible pause options, and bank e-mandates.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Embed Advanced Portfolio Tools: Integrate the asset allocator and Monte Carlo simulator into retail client portals.</a:t>
            </a:r>
          </a:p>
          <a:p>
            <a:pPr>
              <a:spcBef>
                <a:spcPts val="1200"/>
              </a:spcBef>
              <a:defRPr sz="1500">
                <a:solidFill>
                  <a:srgbClr val="333333"/>
                </a:solidFill>
              </a:defRPr>
            </a:pPr>
            <a:r>
              <a:t>• Thank You! Any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